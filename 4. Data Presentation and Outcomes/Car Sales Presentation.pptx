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 Maboya" userId="4672eb59-5e1e-4bd1-b8af-d9c1df462b6f" providerId="ADAL" clId="{6918C035-7A4E-4D36-8255-807CFBE6E8D2}"/>
    <pc:docChg chg="modSld">
      <pc:chgData name="Kay Maboya" userId="4672eb59-5e1e-4bd1-b8af-d9c1df462b6f" providerId="ADAL" clId="{6918C035-7A4E-4D36-8255-807CFBE6E8D2}" dt="2026-05-20T11:15:41.475" v="13" actId="1036"/>
      <pc:docMkLst>
        <pc:docMk/>
      </pc:docMkLst>
      <pc:sldChg chg="modSp mod">
        <pc:chgData name="Kay Maboya" userId="4672eb59-5e1e-4bd1-b8af-d9c1df462b6f" providerId="ADAL" clId="{6918C035-7A4E-4D36-8255-807CFBE6E8D2}" dt="2026-05-20T11:15:41.475" v="13" actId="1036"/>
        <pc:sldMkLst>
          <pc:docMk/>
          <pc:sldMk cId="0" sldId="256"/>
        </pc:sldMkLst>
        <pc:spChg chg="mod">
          <ac:chgData name="Kay Maboya" userId="4672eb59-5e1e-4bd1-b8af-d9c1df462b6f" providerId="ADAL" clId="{6918C035-7A4E-4D36-8255-807CFBE6E8D2}" dt="2026-05-20T11:15:41.475" v="13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y Maboya" userId="4672eb59-5e1e-4bd1-b8af-d9c1df462b6f" providerId="ADAL" clId="{6918C035-7A4E-4D36-8255-807CFBE6E8D2}" dt="2026-05-20T11:15:15.940" v="12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853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5752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Georgia"/>
              </a:defRPr>
            </a:pPr>
            <a:r>
              <a:rPr lang="en-US" dirty="0"/>
              <a:t>CAR</a:t>
            </a:r>
            <a:r>
              <a:rPr dirty="0"/>
              <a:t> </a:t>
            </a:r>
            <a:r>
              <a:rPr lang="en-US" dirty="0"/>
              <a:t>SALES </a:t>
            </a:r>
            <a:r>
              <a:rPr dirty="0"/>
              <a:t>PERFORMANCE RE</a:t>
            </a:r>
            <a:r>
              <a:rPr lang="en-US" dirty="0"/>
              <a:t>PORT</a:t>
            </a:r>
            <a:endParaRPr dirty="0"/>
          </a:p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  <a:latin typeface="Century Gothic"/>
              </a:defRPr>
            </a:pPr>
            <a:r>
              <a:rPr dirty="0"/>
              <a:t>Data-Driven Market Trends, Asset Optimization &amp; </a:t>
            </a:r>
            <a:r>
              <a:rPr lang="en-US" dirty="0"/>
              <a:t>Recommendations</a:t>
            </a:r>
          </a:p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  <a:latin typeface="Century Gothic"/>
              </a:defRPr>
            </a:pPr>
            <a:r>
              <a:rPr lang="en-ZA" sz="1400" dirty="0"/>
              <a:t>Fiscal Performance Report Till Year 2015</a:t>
            </a:r>
            <a:endParaRPr sz="1400" dirty="0"/>
          </a:p>
          <a:p>
            <a:pPr algn="ctr">
              <a:spcBef>
                <a:spcPts val="4000"/>
              </a:spcBef>
              <a:defRPr sz="1200">
                <a:solidFill>
                  <a:srgbClr val="A0A5AF"/>
                </a:solidFill>
                <a:latin typeface="Century Gothic"/>
              </a:defRPr>
            </a:pPr>
            <a:r>
              <a:rPr dirty="0"/>
              <a:t>PREPARED FOR EXECUTIVE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D660E-9837-1847-7219-74ED457F52F7}"/>
              </a:ext>
            </a:extLst>
          </p:cNvPr>
          <p:cNvSpPr txBox="1"/>
          <p:nvPr/>
        </p:nvSpPr>
        <p:spPr>
          <a:xfrm>
            <a:off x="731520" y="2011680"/>
            <a:ext cx="106984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>
                <a:solidFill>
                  <a:srgbClr val="D4AF37"/>
                </a:solidFill>
                <a:latin typeface="Helvetica"/>
              </a:defRPr>
            </a:pPr>
            <a:r>
              <a:rPr dirty="0"/>
              <a:t>•  </a:t>
            </a:r>
            <a:r>
              <a:rPr sz="1600" dirty="0">
                <a:solidFill>
                  <a:srgbClr val="D4AF37"/>
                </a:solidFill>
                <a:latin typeface="Georgia"/>
              </a:rPr>
              <a:t>MARKET STABILITY: </a:t>
            </a:r>
            <a:r>
              <a:rPr sz="1400" dirty="0">
                <a:solidFill>
                  <a:srgbClr val="FFFFFF"/>
                </a:solidFill>
                <a:latin typeface="Century Gothic"/>
              </a:rPr>
              <a:t>The premium secondary market demonstrated a 12% valuation resilience compared to mass-market segments during Q4 2014.</a:t>
            </a:r>
          </a:p>
          <a:p>
            <a:pPr>
              <a:defRPr sz="1000"/>
            </a:pPr>
            <a:endParaRPr sz="1800" b="0" dirty="0">
              <a:solidFill>
                <a:srgbClr val="B4B4B4"/>
              </a:solidFill>
              <a:latin typeface="Arial"/>
            </a:endParaRPr>
          </a:p>
          <a:p>
            <a:pPr>
              <a:defRPr sz="2000" b="1">
                <a:solidFill>
                  <a:srgbClr val="D4AF37"/>
                </a:solidFill>
                <a:latin typeface="Helvetica"/>
              </a:defRPr>
            </a:pPr>
            <a:r>
              <a:rPr dirty="0"/>
              <a:t>•  </a:t>
            </a:r>
            <a:r>
              <a:rPr sz="1600" b="1" dirty="0">
                <a:solidFill>
                  <a:srgbClr val="D4AF37"/>
                </a:solidFill>
                <a:latin typeface="Georgia"/>
              </a:rPr>
              <a:t>PEAK PERFORMANCE: </a:t>
            </a:r>
            <a:r>
              <a:rPr sz="1400" dirty="0">
                <a:solidFill>
                  <a:srgbClr val="FFFFFF"/>
                </a:solidFill>
                <a:latin typeface="Century Gothic"/>
              </a:rPr>
              <a:t>December emerged as the high-liquidity window, accounting for 28% of total annual premium turnover.</a:t>
            </a:r>
          </a:p>
          <a:p>
            <a:pPr>
              <a:defRPr sz="1000"/>
            </a:pPr>
            <a:endParaRPr sz="1800" b="0" dirty="0">
              <a:solidFill>
                <a:srgbClr val="B4B4B4"/>
              </a:solidFill>
              <a:latin typeface="Arial"/>
            </a:endParaRPr>
          </a:p>
          <a:p>
            <a:pPr>
              <a:defRPr sz="2000" b="1">
                <a:solidFill>
                  <a:srgbClr val="D4AF37"/>
                </a:solidFill>
                <a:latin typeface="Helvetica"/>
              </a:defRPr>
            </a:pPr>
            <a:r>
              <a:rPr dirty="0"/>
              <a:t>•  </a:t>
            </a:r>
            <a:r>
              <a:rPr sz="1600" b="1" dirty="0">
                <a:solidFill>
                  <a:srgbClr val="D4AF37"/>
                </a:solidFill>
                <a:latin typeface="Georgia"/>
              </a:rPr>
              <a:t>USAGE IMPACT: </a:t>
            </a:r>
            <a:r>
              <a:rPr sz="1300" dirty="0">
                <a:solidFill>
                  <a:srgbClr val="FFFFFF"/>
                </a:solidFill>
                <a:latin typeface="Century Gothic"/>
              </a:rPr>
              <a:t>Every 10,000 miles post-3</a:t>
            </a:r>
            <a:r>
              <a:rPr lang="en-US" sz="1300" dirty="0">
                <a:solidFill>
                  <a:srgbClr val="FFFFFF"/>
                </a:solidFill>
                <a:latin typeface="Century Gothic"/>
              </a:rPr>
              <a:t>5</a:t>
            </a:r>
            <a:r>
              <a:rPr sz="1300" dirty="0">
                <a:solidFill>
                  <a:srgbClr val="FFFFFF"/>
                </a:solidFill>
                <a:latin typeface="Century Gothic"/>
              </a:rPr>
              <a:t>k threshold </a:t>
            </a:r>
            <a:r>
              <a:rPr sz="1400" dirty="0">
                <a:solidFill>
                  <a:srgbClr val="FFFFFF"/>
                </a:solidFill>
                <a:latin typeface="Century Gothic"/>
              </a:rPr>
              <a:t>correlates with a 6.4% depreciation acceleration in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</a:rPr>
              <a:t>luxury sedans.</a:t>
            </a:r>
          </a:p>
          <a:p>
            <a:pPr>
              <a:defRPr sz="1000"/>
            </a:pPr>
            <a:endParaRPr sz="1800" b="0" dirty="0">
              <a:solidFill>
                <a:srgbClr val="B4B4B4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409B9-C307-D230-8D92-159EE7973FD4}"/>
              </a:ext>
            </a:extLst>
          </p:cNvPr>
          <p:cNvSpPr txBox="1"/>
          <p:nvPr/>
        </p:nvSpPr>
        <p:spPr>
          <a:xfrm>
            <a:off x="731520" y="6400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F37"/>
                </a:solidFill>
                <a:latin typeface="Helvetica"/>
              </a:defRPr>
            </a:pPr>
            <a:r>
              <a:rPr lang="en-US" sz="2800" dirty="0">
                <a:solidFill>
                  <a:srgbClr val="FFFFFF"/>
                </a:solidFill>
                <a:latin typeface="Georgia"/>
              </a:rPr>
              <a:t>Executive Key Insights</a:t>
            </a:r>
            <a:endParaRPr sz="2800" dirty="0">
              <a:solidFill>
                <a:srgbClr val="FFFFF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rPr dirty="0"/>
              <a:t>Volume Leaders: Top Manufacturers Dominating Supply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Ford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057400"/>
            <a:ext cx="411480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225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Nissan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880360"/>
            <a:ext cx="356616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195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Chevrolet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703320"/>
            <a:ext cx="320040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175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Toyota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4526280"/>
            <a:ext cx="256032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140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BMW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5349240"/>
            <a:ext cx="201168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5303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110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rPr dirty="0"/>
              <a:t>ANCHOR INVENTORY ANALYSIS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rPr dirty="0"/>
              <a:t>Ford, Nissan, and Chevrolet form the primary engine of transaction volume.</a:t>
            </a:r>
            <a:br>
              <a:rPr dirty="0"/>
            </a:br>
            <a:br>
              <a:rPr dirty="0"/>
            </a:br>
            <a:r>
              <a:rPr dirty="0"/>
              <a:t>These mass-market models ensure operational liquidity and high turn rates, absorbing overhead costs and allowing premium luxury assets (like BMW) to capture higher localized net margins.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Niche &amp; Low-Volume Segments: Capital Restraints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rPr dirty="0"/>
              <a:t>Exotics &amp; Ultra-Luxury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rPr dirty="0"/>
              <a:t>Brands like Ferrari and Bentley reflect less than 1% of transaction volume. They yield supreme individual margins but create localized cash locking hazards due to exceptionally long holding intervals.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Legacy &amp; Discontinued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Brands like Saab and Saturn enter supply structures purely as residual trade-ins. They require instantaneous discount-to-wholesale strategies to prevent prolonged lot 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Urban Micro Segments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Smart and specialized sub-compact models present negligible volume demand as consumer preferences decisively prioritize mid-to-large utility layouts.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rPr dirty="0"/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rPr dirty="0"/>
              <a:t>The Odometer Factor: Visualizing the Depreciation Cliff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64592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entury Gothic"/>
              </a:defRPr>
            </a:pPr>
            <a:r>
              <a:t>Low (&lt;35k mi)</a:t>
            </a:r>
            <a:br/>
            <a:r>
              <a:t>$28,500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3474720"/>
            <a:ext cx="1645920" cy="2011680"/>
          </a:xfrm>
          <a:prstGeom prst="rect">
            <a:avLst/>
          </a:prstGeom>
          <a:solidFill>
            <a:srgbClr val="323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39" y="5577840"/>
            <a:ext cx="164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entury Gothic"/>
              </a:defRPr>
            </a:pPr>
            <a:r>
              <a:rPr dirty="0"/>
              <a:t>Mid (35k-</a:t>
            </a:r>
            <a:r>
              <a:rPr lang="en-US" dirty="0"/>
              <a:t>10</a:t>
            </a:r>
            <a:r>
              <a:rPr dirty="0"/>
              <a:t>0k mi)</a:t>
            </a:r>
            <a:br>
              <a:rPr dirty="0"/>
            </a:br>
            <a:r>
              <a:rPr dirty="0"/>
              <a:t>$14,200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59" y="4754880"/>
            <a:ext cx="1645920" cy="731520"/>
          </a:xfrm>
          <a:prstGeom prst="rect">
            <a:avLst/>
          </a:prstGeom>
          <a:solidFill>
            <a:srgbClr val="323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59" y="5577840"/>
            <a:ext cx="164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entury Gothic"/>
              </a:defRPr>
            </a:pPr>
            <a:r>
              <a:rPr dirty="0"/>
              <a:t>High (&gt;</a:t>
            </a:r>
            <a:r>
              <a:rPr lang="en-US" dirty="0"/>
              <a:t>10</a:t>
            </a:r>
            <a:r>
              <a:rPr dirty="0"/>
              <a:t>0k mi)</a:t>
            </a:r>
            <a:br>
              <a:rPr dirty="0"/>
            </a:br>
            <a:r>
              <a:rPr dirty="0"/>
              <a:t>$4,800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rPr dirty="0"/>
              <a:t>THE EXPONENTIAL CORRELATION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rPr dirty="0"/>
              <a:t>Vehicle depreciation operates non-linearly.</a:t>
            </a:r>
            <a:br>
              <a:rPr dirty="0"/>
            </a:br>
            <a:br>
              <a:rPr dirty="0"/>
            </a:br>
            <a:r>
              <a:rPr dirty="0"/>
              <a:t>Transitioning from Low to Mid mileage prompts an immediate 50% loss in asset valuation, corresponding with factory warranty expirations. Procurement pipelines must prioritize units strictly under the 35,000-mile mark to harvest maximum pricing premiums.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474720" cy="3931920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0D4FF"/>
                </a:solidFill>
                <a:latin typeface="Arial"/>
              </a:defRPr>
            </a:pPr>
            <a:r>
              <a:rPr b="1" dirty="0">
                <a:solidFill>
                  <a:srgbClr val="D4AF37"/>
                </a:solidFill>
                <a:latin typeface="Century Gothic"/>
              </a:rPr>
              <a:t>Low Odometer (&lt;35k mi</a:t>
            </a:r>
            <a:r>
              <a:rPr lang="en-US" b="1" dirty="0">
                <a:solidFill>
                  <a:srgbClr val="D4AF37"/>
                </a:solidFill>
                <a:latin typeface="Century Gothic"/>
              </a:rPr>
              <a:t>lage</a:t>
            </a:r>
            <a:r>
              <a:rPr b="1" dirty="0">
                <a:solidFill>
                  <a:srgbClr val="D4AF37"/>
                </a:solidFill>
                <a:latin typeface="Century Gothic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Arial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$28,500 Base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 dirty="0">
                <a:solidFill>
                  <a:srgbClr val="FFFFFF"/>
                </a:solidFill>
                <a:latin typeface="Century Gothic"/>
              </a:rPr>
              <a:t>Retains maximum wholesale valuation tier. Highly competitive bidding environments across all premium and volume makes.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79" y="2011680"/>
            <a:ext cx="3474720" cy="3931920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0D4FF"/>
                </a:solidFill>
                <a:latin typeface="Arial"/>
              </a:defRPr>
            </a:pPr>
            <a:r>
              <a:rPr b="1" dirty="0">
                <a:solidFill>
                  <a:srgbClr val="D4AF37"/>
                </a:solidFill>
                <a:latin typeface="Century Gothic"/>
              </a:rPr>
              <a:t>Mid Odometer (35k-</a:t>
            </a:r>
            <a:r>
              <a:rPr lang="en-US" b="1" dirty="0">
                <a:solidFill>
                  <a:srgbClr val="D4AF37"/>
                </a:solidFill>
                <a:latin typeface="Century Gothic"/>
              </a:rPr>
              <a:t>10</a:t>
            </a:r>
            <a:r>
              <a:rPr b="1" dirty="0">
                <a:solidFill>
                  <a:srgbClr val="D4AF37"/>
                </a:solidFill>
                <a:latin typeface="Century Gothic"/>
              </a:rPr>
              <a:t>0k mi</a:t>
            </a:r>
            <a:r>
              <a:rPr lang="en-US" b="1" dirty="0">
                <a:solidFill>
                  <a:srgbClr val="D4AF37"/>
                </a:solidFill>
                <a:latin typeface="Century Gothic"/>
              </a:rPr>
              <a:t>lage</a:t>
            </a:r>
            <a:r>
              <a:rPr b="1" dirty="0">
                <a:solidFill>
                  <a:srgbClr val="D4AF37"/>
                </a:solidFill>
                <a:latin typeface="Century Gothic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Arial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$14,200 Base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 dirty="0">
                <a:solidFill>
                  <a:srgbClr val="FFFFFF"/>
                </a:solidFill>
                <a:latin typeface="Century Gothic"/>
              </a:rPr>
              <a:t>Presents an immediate ~50% drop from low-mileage premiums. Indicates major exit points from manufacturer warranty coverage.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19" y="2011680"/>
            <a:ext cx="3474720" cy="3931920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0D4FF"/>
                </a:solidFill>
                <a:latin typeface="Arial"/>
              </a:defRPr>
            </a:pPr>
            <a:r>
              <a:rPr b="1" dirty="0">
                <a:solidFill>
                  <a:srgbClr val="D4AF37"/>
                </a:solidFill>
                <a:latin typeface="Century Gothic"/>
              </a:rPr>
              <a:t>High Odometer (&gt;</a:t>
            </a:r>
            <a:r>
              <a:rPr lang="en-US" b="1" dirty="0">
                <a:solidFill>
                  <a:srgbClr val="D4AF37"/>
                </a:solidFill>
                <a:latin typeface="Century Gothic"/>
              </a:rPr>
              <a:t>10</a:t>
            </a:r>
            <a:r>
              <a:rPr b="1" dirty="0">
                <a:solidFill>
                  <a:srgbClr val="D4AF37"/>
                </a:solidFill>
                <a:latin typeface="Century Gothic"/>
              </a:rPr>
              <a:t>0k mi</a:t>
            </a:r>
            <a:r>
              <a:rPr lang="en-US" b="1" dirty="0">
                <a:solidFill>
                  <a:srgbClr val="D4AF37"/>
                </a:solidFill>
                <a:latin typeface="Century Gothic"/>
              </a:rPr>
              <a:t>lage</a:t>
            </a:r>
            <a:r>
              <a:rPr b="1" dirty="0">
                <a:solidFill>
                  <a:srgbClr val="D4AF37"/>
                </a:solidFill>
                <a:latin typeface="Century Gothic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Arial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$4,800 Base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 dirty="0">
                <a:solidFill>
                  <a:srgbClr val="FFFFFF"/>
                </a:solidFill>
                <a:latin typeface="Century Gothic"/>
              </a:rPr>
              <a:t>Severe value degradation. Assets transition purely to budget-tier or mechanical reconditioning liquidation profiles.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83B77-02A4-8645-CC2B-0DB9FF31EA21}"/>
              </a:ext>
            </a:extLst>
          </p:cNvPr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rPr dirty="0"/>
              <a:t>EXECUTIVE BRIEFING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E7810-E9AC-3AB6-4BB1-9AA601202769}"/>
              </a:ext>
            </a:extLst>
          </p:cNvPr>
          <p:cNvSpPr txBox="1"/>
          <p:nvPr/>
        </p:nvSpPr>
        <p:spPr>
          <a:xfrm>
            <a:off x="652007" y="5486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rPr dirty="0"/>
              <a:t>The Odometer Factor: Visualizing the Depreciation Cliff</a:t>
            </a:r>
            <a:r>
              <a:rPr lang="en-US" dirty="0"/>
              <a:t>, Page2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229FB9-49BA-97E8-7F59-55ABE493BD2F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Model Year Analysis: Identifying Volume Sweetslots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2014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057400"/>
            <a:ext cx="2311052" cy="320040"/>
          </a:xfrm>
          <a:prstGeom prst="rect">
            <a:avLst/>
          </a:prstGeom>
          <a:solidFill>
            <a:srgbClr val="323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8492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205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2013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880360"/>
            <a:ext cx="3472214" cy="320040"/>
          </a:xfrm>
          <a:prstGeom prst="rect">
            <a:avLst/>
          </a:prstGeom>
          <a:solidFill>
            <a:srgbClr val="323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49654" y="2834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308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2012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703320"/>
            <a:ext cx="411480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365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2011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526280"/>
            <a:ext cx="3832964" cy="320040"/>
          </a:xfrm>
          <a:prstGeom prst="rect">
            <a:avLst/>
          </a:prstGeom>
          <a:solidFill>
            <a:srgbClr val="323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0404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340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  <a:latin typeface="Century Gothic"/>
              </a:defRPr>
            </a:pPr>
            <a:r>
              <a:t>2010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5349240"/>
            <a:ext cx="1352810" cy="320040"/>
          </a:xfrm>
          <a:prstGeom prst="rect">
            <a:avLst/>
          </a:prstGeom>
          <a:solidFill>
            <a:srgbClr val="323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0250" y="5303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5AF"/>
                </a:solidFill>
              </a:defRPr>
            </a:pPr>
            <a:r>
              <a:t>120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LEASE RETURN MATURITY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t>The 2012 model year stands out as the absolute leader with 365 units.</a:t>
            </a:r>
            <a:br/>
            <a:br/>
            <a:r>
              <a:t>This trend highlights a major institutional pattern: 3-year commercial leasing and fleet replacement models consistently deliver optimum volume waves into wholesale channels, making this generation highly liquid.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Seasonal Variance: December Peak Performance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14400" y="4846320"/>
            <a:ext cx="1463040" cy="18288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377440" y="4572000"/>
            <a:ext cx="1463040" cy="27432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840480" y="2011680"/>
            <a:ext cx="1463040" cy="256032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2960" y="4937760"/>
            <a:ext cx="182880" cy="182880"/>
          </a:xfrm>
          <a:prstGeom prst="ellipse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286000" y="4754880"/>
            <a:ext cx="182880" cy="182880"/>
          </a:xfrm>
          <a:prstGeom prst="ellipse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49040" y="4480560"/>
            <a:ext cx="182880" cy="182880"/>
          </a:xfrm>
          <a:prstGeom prst="ellipse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12080" y="1920240"/>
            <a:ext cx="182880" cy="182880"/>
          </a:xfrm>
          <a:prstGeom prst="ellipse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Century Gothic"/>
              </a:defRPr>
            </a:pPr>
            <a:r>
              <a:t>Sept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212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Century Gothic"/>
              </a:defRPr>
            </a:pPr>
            <a:r>
              <a:t>Oct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212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Century Gothic"/>
              </a:defRPr>
            </a:pPr>
            <a:r>
              <a:t>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5545" y="5212080"/>
            <a:ext cx="65594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Century Gothic"/>
              </a:defRPr>
            </a:pPr>
            <a:r>
              <a:rPr dirty="0"/>
              <a:t>D</a:t>
            </a:r>
            <a:r>
              <a:rPr lang="en-US" dirty="0"/>
              <a:t>ec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FISCAL YEAR LIQUIDATION WAVES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t>Transaction velocity experiences a dramatic 140% spike in December.</a:t>
            </a:r>
            <a:br/>
            <a:br/>
            <a:r>
              <a:t>This is heavily accelerated by original equipment manufacturers (OEMs) deploying year-end incentive plans, combined with dealerships actively aggressively offloading trade-ins to polish corporate balance sheets before fiscal year close.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Temporal Sales Distribution: Weekday Monopolization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286000"/>
            <a:ext cx="3200400" cy="32004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28800" y="2743200"/>
            <a:ext cx="2286000" cy="2286000"/>
          </a:xfrm>
          <a:prstGeom prst="ellipse">
            <a:avLst/>
          </a:prstGeom>
          <a:solidFill>
            <a:srgbClr val="0A0B0E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4747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F37"/>
                </a:solidFill>
                <a:latin typeface="Georgia"/>
              </a:defRPr>
            </a:pPr>
            <a:r>
              <a:rPr dirty="0"/>
              <a:t>98.5%</a:t>
            </a:r>
            <a:br>
              <a:rPr dirty="0"/>
            </a:br>
            <a:r>
              <a:rPr dirty="0"/>
              <a:t>WEEKDAYS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9152" y="1152939"/>
            <a:ext cx="507796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rPr dirty="0"/>
              <a:t>B2B TRANSACTION CLUSTERING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rPr dirty="0"/>
              <a:t>The data indicates absolute transaction allocation between Tuesday and Thursday.</a:t>
            </a:r>
            <a:br>
              <a:rPr dirty="0"/>
            </a:br>
            <a:br>
              <a:rPr dirty="0"/>
            </a:br>
            <a:r>
              <a:rPr dirty="0"/>
              <a:t>Standard commercial auctions operate exclusively during business hours, leaving weekend retail potential completely unexploited. Introducing a curated weekend 'Private Collector' event pipeline can diversify market capture.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F3A4DFD1-DB9E-565E-2E18-62D2110BC83C}"/>
              </a:ext>
            </a:extLst>
          </p:cNvPr>
          <p:cNvSpPr/>
          <p:nvPr/>
        </p:nvSpPr>
        <p:spPr>
          <a:xfrm>
            <a:off x="4947697" y="3783221"/>
            <a:ext cx="3132815" cy="2491958"/>
          </a:xfrm>
          <a:prstGeom prst="round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>
                <a:solidFill>
                  <a:srgbClr val="D4AF37"/>
                </a:solidFill>
                <a:latin typeface="Georgia"/>
              </a:defRPr>
            </a:pPr>
            <a:r>
              <a:rPr sz="2000" b="1" dirty="0">
                <a:solidFill>
                  <a:srgbClr val="D4AF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WEEKDAYS</a:t>
            </a:r>
          </a:p>
          <a:p>
            <a:pPr algn="ctr">
              <a:spcBef>
                <a:spcPts val="1000"/>
              </a:spcBef>
              <a:defRPr sz="2000">
                <a:solidFill>
                  <a:srgbClr val="D4AF37"/>
                </a:solidFill>
                <a:latin typeface="Georgia"/>
              </a:defRPr>
            </a:pPr>
            <a:r>
              <a:rPr sz="5400" b="1" dirty="0">
                <a:solidFill>
                  <a:srgbClr val="D4AF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98.5%</a:t>
            </a:r>
          </a:p>
          <a:p>
            <a:pPr algn="ctr">
              <a:spcBef>
                <a:spcPts val="1400"/>
              </a:spcBef>
              <a:defRPr sz="1500">
                <a:solidFill>
                  <a:srgbClr val="B0C4DE"/>
                </a:solidFill>
                <a:latin typeface="Calibri"/>
              </a:defRPr>
            </a:pPr>
            <a:r>
              <a:rPr sz="1400" dirty="0">
                <a:solidFill>
                  <a:srgbClr val="FFFFFF"/>
                </a:solidFill>
                <a:latin typeface="Century Gothic"/>
              </a:rPr>
              <a:t>Tuesday through Thursday form the hyper-active core of corporate and dealer </a:t>
            </a:r>
            <a:r>
              <a:rPr lang="en-US" sz="1400" dirty="0">
                <a:solidFill>
                  <a:srgbClr val="FFFFFF"/>
                </a:solidFill>
                <a:latin typeface="Century Gothic"/>
              </a:rPr>
              <a:t>sales</a:t>
            </a:r>
            <a:r>
              <a:rPr sz="1400" dirty="0">
                <a:solidFill>
                  <a:srgbClr val="FFFFFF"/>
                </a:solidFill>
                <a:latin typeface="Century Gothic"/>
              </a:rPr>
              <a:t>.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89997B9C-6917-6581-C118-4F96C319086B}"/>
              </a:ext>
            </a:extLst>
          </p:cNvPr>
          <p:cNvSpPr/>
          <p:nvPr/>
        </p:nvSpPr>
        <p:spPr>
          <a:xfrm>
            <a:off x="8388626" y="3783221"/>
            <a:ext cx="3132815" cy="2491958"/>
          </a:xfrm>
          <a:prstGeom prst="round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>
                <a:solidFill>
                  <a:srgbClr val="D4AF37"/>
                </a:solidFill>
                <a:latin typeface="Georgia"/>
              </a:defRPr>
            </a:pPr>
            <a:r>
              <a:rPr sz="2000" b="1" dirty="0">
                <a:solidFill>
                  <a:srgbClr val="D4AF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WEEKENDS</a:t>
            </a:r>
          </a:p>
          <a:p>
            <a:pPr algn="ctr">
              <a:spcBef>
                <a:spcPts val="1000"/>
              </a:spcBef>
              <a:defRPr sz="5400" b="1">
                <a:solidFill>
                  <a:srgbClr val="B0C4DE"/>
                </a:solidFill>
                <a:latin typeface="Arial"/>
              </a:defRPr>
            </a:pPr>
            <a:r>
              <a:rPr sz="5400" b="1" dirty="0">
                <a:solidFill>
                  <a:srgbClr val="D4AF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1.5%</a:t>
            </a:r>
          </a:p>
          <a:p>
            <a:pPr algn="ctr">
              <a:spcBef>
                <a:spcPts val="1400"/>
              </a:spcBef>
              <a:defRPr sz="1500">
                <a:solidFill>
                  <a:srgbClr val="B0C4DE"/>
                </a:solidFill>
                <a:latin typeface="Calibri"/>
              </a:defRPr>
            </a:pPr>
            <a:r>
              <a:rPr sz="1400" dirty="0">
                <a:solidFill>
                  <a:srgbClr val="FFFFFF"/>
                </a:solidFill>
                <a:latin typeface="Century Gothic"/>
              </a:rPr>
              <a:t>Saturday and Sunday present nearly non-existent channel transaction activity.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Core Business Improvement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Accelerate Inventory Rotation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Impose uncompromising 45-day cycle limitations on older 2011/2012 generations before they breach steep high-mileage value thresholds.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Recalibrate Valuation Algorithms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Implement decentralized, market-specific pricing targets for premium luxury sectors to compress the observed MMR underperformance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Optimize Operational Staffing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Frontload administrative and technical logistics capacities into the hyper-dense mid-week window to handle peak transaction stress seamlessly.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Targeted Marketing Allocations: Premium Velocity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182880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Mass-Market High-Margin: Kia &amp; Hyundai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• Metric Insight: These utility crossovers exhibit exceptional value realization relative to book value.</a:t>
            </a:r>
            <a:br/>
            <a:r>
              <a:t>• Strategy: Direct localized digital capital heavily toward suburban multi-car family metrics emphasizing cost-efficiency ratios.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10728655" cy="182880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Premium Luxury Acceleration: Audi &amp; Lexus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• Metric Insight: High-MMR, low-mileage variants linger in active inventory 25% longer, risking capital stalling.</a:t>
            </a:r>
            <a:br/>
            <a:r>
              <a:t>• Strategy: Deploy geo-fenced luxury lifestyle campaigns to high-net-worth postal codes across CA and FL.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Geographical Profiling: Regional Volume Concentration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D4AF37"/>
                </a:solidFill>
                <a:latin typeface="Georgia"/>
              </a:defRPr>
            </a:pPr>
            <a:r>
              <a:t>CALIFORNIA (CA)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Luxury Epicenter</a:t>
            </a:r>
          </a:p>
          <a:p>
            <a:pPr>
              <a:spcBef>
                <a:spcPts val="1000"/>
              </a:spcBef>
              <a:defRPr sz="1300">
                <a:solidFill>
                  <a:srgbClr val="A0A5AF"/>
                </a:solidFill>
                <a:latin typeface="Century Gothic"/>
              </a:defRPr>
            </a:pPr>
            <a:r>
              <a:t>Controls ~60% of high-end asset volume. Crucial focal point for luxury models and electric propulsion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D4AF37"/>
                </a:solidFill>
                <a:latin typeface="Georgia"/>
              </a:defRPr>
            </a:pPr>
            <a:r>
              <a:rPr dirty="0"/>
              <a:t>TEXAS / FLORIDA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rPr dirty="0"/>
              <a:t>Utility </a:t>
            </a:r>
            <a:r>
              <a:rPr lang="en-US" dirty="0"/>
              <a:t>Demand</a:t>
            </a:r>
            <a:endParaRPr dirty="0"/>
          </a:p>
          <a:p>
            <a:pPr>
              <a:spcBef>
                <a:spcPts val="1000"/>
              </a:spcBef>
              <a:defRPr sz="1300">
                <a:solidFill>
                  <a:srgbClr val="A0A5AF"/>
                </a:solidFill>
                <a:latin typeface="Century Gothic"/>
              </a:defRPr>
            </a:pPr>
            <a:r>
              <a:rPr dirty="0"/>
              <a:t>Maintains optimal margin preservation across crew-cab configurations, full-size SUVs, and heavy-duty towing fleets.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D4AF37"/>
                </a:solidFill>
                <a:latin typeface="Georgia"/>
              </a:defRPr>
            </a:pPr>
            <a:r>
              <a:rPr dirty="0"/>
              <a:t>PA / OH MIDWEST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rPr lang="en-US" dirty="0"/>
              <a:t>Mass-Market </a:t>
            </a:r>
            <a:r>
              <a:rPr dirty="0"/>
              <a:t>Fleet </a:t>
            </a:r>
            <a:r>
              <a:rPr lang="en-ZA" dirty="0"/>
              <a:t>Liquidation</a:t>
            </a:r>
            <a:endParaRPr dirty="0"/>
          </a:p>
          <a:p>
            <a:pPr>
              <a:spcBef>
                <a:spcPts val="1000"/>
              </a:spcBef>
              <a:defRPr sz="1300">
                <a:solidFill>
                  <a:srgbClr val="A0A5AF"/>
                </a:solidFill>
                <a:latin typeface="Century Gothic"/>
              </a:defRPr>
            </a:pPr>
            <a:r>
              <a:rPr dirty="0"/>
              <a:t>Characterized by high-mileage corporate de-fleeting and mid-size entry sedans. Extremely price sensitive.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Body Segment Architecture: Utility Displacing Sedans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SUVs &amp; Crossovers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Absolute demand core, presenting maximum resale stability and low lot age times across all regions.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Traditional Sedans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Maintains prominent baseline volume footprint but suffers faster, steeper non-linear value erosion.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383280" cy="3931920"/>
          </a:xfrm>
          <a:prstGeom prst="rect">
            <a:avLst/>
          </a:prstGeom>
          <a:solidFill>
            <a:srgbClr val="16181D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AF37"/>
                </a:solidFill>
                <a:latin typeface="Georgia"/>
              </a:defRPr>
            </a:pPr>
            <a:r>
              <a:t>Light Commercial Trucks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entury Gothic"/>
              </a:defRPr>
            </a:pPr>
            <a:r>
              <a:t>Niche representation metrics but yields the highest single unit gross revenue performance parameters.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Valuation Discrepancy: Realized Sale vs. Expected MMR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338766"/>
              </p:ext>
            </p:extLst>
          </p:nvPr>
        </p:nvGraphicFramePr>
        <p:xfrm>
          <a:off x="731520" y="201168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A0B0E"/>
                          </a:solidFill>
                          <a:latin typeface="Georgia"/>
                        </a:defRPr>
                      </a:pPr>
                      <a:r>
                        <a:t>Segment Profile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A0B0E"/>
                          </a:solidFill>
                          <a:latin typeface="Georgia"/>
                        </a:defRPr>
                      </a:pPr>
                      <a:r>
                        <a:t>Expected MMR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A0B0E"/>
                          </a:solidFill>
                          <a:latin typeface="Georgia"/>
                        </a:defRPr>
                      </a:pPr>
                      <a:r>
                        <a:t>Realized Sale Price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A0B0E"/>
                          </a:solidFill>
                          <a:latin typeface="Georgia"/>
                        </a:defRPr>
                      </a:pPr>
                      <a:r>
                        <a:t>Net Variance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Mainstream Core (Ford, Toyota)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$16,200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$16,550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4AF37"/>
                          </a:solidFill>
                          <a:latin typeface="Century Gothic"/>
                        </a:defRPr>
                      </a:pPr>
                      <a:r>
                        <a:rPr dirty="0">
                          <a:solidFill>
                            <a:srgbClr val="92D050"/>
                          </a:solidFill>
                        </a:rPr>
                        <a:t>+$350 (Premium Performance)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Premium Luxury (BMW, Audi)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$32,450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$31,800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5050"/>
                          </a:solidFill>
                          <a:latin typeface="Century Gothic"/>
                        </a:defRPr>
                      </a:pPr>
                      <a:r>
                        <a:t>-$650 (Margin Erosion Risk)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High-Mileage Fleet Stocks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$6,400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$5,200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5050"/>
                          </a:solidFill>
                          <a:latin typeface="Century Gothic"/>
                        </a:defRPr>
                      </a:pPr>
                      <a:r>
                        <a:rPr dirty="0"/>
                        <a:t>-$1,200 (Severe Recovery Deficit)</a:t>
                      </a:r>
                    </a:p>
                  </a:txBody>
                  <a:tcPr>
                    <a:solidFill>
                      <a:srgbClr val="161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A0A5AF"/>
                </a:solidFill>
                <a:latin typeface="Century Gothic"/>
              </a:defRPr>
            </a:pPr>
            <a:r>
              <a:rPr dirty="0"/>
              <a:t>Operational Caveat: Book values overstate premium luxury and fleet liquidation potential. Procurement processes must dynamically adjust acquisition cap parameters by -5% relative to baseline MMR indexes.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entury Gothic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Georgia"/>
              </a:defRPr>
            </a:pPr>
            <a:r>
              <a:t>Strategic Directives: Roadmap to Revenue Maximization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t>▪ Precision Supply Allocation: Constrain high-mileage niche inventory acquisition. Program buying funnels to absorb clean, low-odometer (&lt;35,000 miles) crossovers and utility vehicles holding structural resale speed.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t>▪ Temporal Supply Chain Alignment: Route luxury sports models into California logistics arteries while feeding heavy full-size utility trucks directly into Texas and Florida hubs to capitalize on regional pricing premiums.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t>▪ Seasonal Ad Allocation: Concentrate active marketing spend late in October and November to construct a high-velocity buying pipeline ahead of the massive December seasonal liquidation wave.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Century Gothic"/>
              </a:defRPr>
            </a:pPr>
            <a:r>
              <a:t>▪ Marketing Asset Re-versioning: Re-align digital marketing copy to lead primarily with 'Low Odometer Status' guarantees as the core value indicator to protect margins against depreciation.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  <a:latin typeface="Georgia"/>
              </a:defRPr>
            </a:pPr>
            <a:r>
              <a:t>THANK YOU</a:t>
            </a:r>
          </a:p>
          <a:p>
            <a:pPr algn="ctr">
              <a:spcBef>
                <a:spcPts val="1400"/>
              </a:spcBef>
              <a:defRPr sz="1600">
                <a:solidFill>
                  <a:srgbClr val="FFFFFF"/>
                </a:solidFill>
                <a:latin typeface="Century Gothic"/>
              </a:defRPr>
            </a:pPr>
            <a:r>
              <a:t>Questions &amp; Strategy Implementation Discussion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659DB-2F94-6818-12F1-1C6EDEEA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53A998-8369-7353-7782-CA1B09A8172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7A4ABE-5229-374B-1418-063DD590071E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70512-10AA-D88D-92D3-378CBD01DD7B}"/>
              </a:ext>
            </a:extLst>
          </p:cNvPr>
          <p:cNvSpPr txBox="1"/>
          <p:nvPr/>
        </p:nvSpPr>
        <p:spPr>
          <a:xfrm>
            <a:off x="1828800" y="2560320"/>
            <a:ext cx="8531352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  <a:latin typeface="Georgia"/>
              </a:defRPr>
            </a:pPr>
            <a:r>
              <a:rPr lang="en-US" dirty="0"/>
              <a:t>Compiled By:</a:t>
            </a:r>
            <a:endParaRPr dirty="0"/>
          </a:p>
          <a:p>
            <a:pPr algn="ctr">
              <a:spcBef>
                <a:spcPts val="1400"/>
              </a:spcBef>
              <a:defRPr sz="1600">
                <a:solidFill>
                  <a:srgbClr val="FFFFFF"/>
                </a:solidFill>
                <a:latin typeface="Century Gothic"/>
              </a:defRPr>
            </a:pPr>
            <a:r>
              <a:rPr lang="en-US" sz="2000" dirty="0"/>
              <a:t>Caiphus Maboya </a:t>
            </a:r>
          </a:p>
          <a:p>
            <a:pPr algn="ctr">
              <a:spcBef>
                <a:spcPts val="1400"/>
              </a:spcBef>
              <a:defRPr sz="1600">
                <a:solidFill>
                  <a:srgbClr val="FFFFFF"/>
                </a:solidFill>
                <a:latin typeface="Century Gothic"/>
              </a:defRPr>
            </a:pPr>
            <a:r>
              <a:rPr lang="en-US" dirty="0"/>
              <a:t>For any question, clarity or comment please contact: kaymaboya@outlook.com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908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Metadata/LabelInfo.xml><?xml version="1.0" encoding="utf-8"?>
<clbl:labelList xmlns:clbl="http://schemas.microsoft.com/office/2020/mipLabelMetadata">
  <clbl:label id="{6bbb1b2e-dbcd-473c-9727-43b416b3e65b}" enabled="0" method="" siteId="{6bbb1b2e-dbcd-473c-9727-43b416b3e65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1235</Words>
  <Application>Microsoft Office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Kay Maboya</dc:creator>
  <cp:keywords/>
  <dc:description>generated using python-pptx</dc:description>
  <cp:lastModifiedBy>Kay Maboya</cp:lastModifiedBy>
  <cp:revision>2</cp:revision>
  <dcterms:created xsi:type="dcterms:W3CDTF">2013-01-27T09:14:16Z</dcterms:created>
  <dcterms:modified xsi:type="dcterms:W3CDTF">2026-05-20T11:15:50Z</dcterms:modified>
  <cp:category/>
</cp:coreProperties>
</file>